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33"/>
                </a:solidFill>
                <a:latin typeface="Calibri"/>
              </a:rPr>
              <a:t>Doublets removed by scDblFinder (% of cells)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Doublet %</c:v>
                </c:pt>
              </c:strCache>
            </c:strRef>
          </c:tx>
          <c:spPr>
            <a:solidFill>
              <a:srgbClr val="6A1B3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Pulp1</c:v>
                  </c:pt>
                  <c:pt idx="1">
                    <c:v>Pulp2</c:v>
                  </c:pt>
                  <c:pt idx="2">
                    <c:v>Pulp3</c:v>
                  </c:pt>
                  <c:pt idx="3">
                    <c:v>Pulp4</c:v>
                  </c:pt>
                  <c:pt idx="4">
                    <c:v>Pulp5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6.8</c:v>
                </c:pt>
                <c:pt idx="1">
                  <c:v>6.8</c:v>
                </c:pt>
                <c:pt idx="2">
                  <c:v>7.5</c:v>
                </c:pt>
                <c:pt idx="3">
                  <c:v>6.4</c:v>
                </c:pt>
                <c:pt idx="4">
                  <c:v>6.3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A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E3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Mesenchymal</c:v>
                </c:pt>
              </c:strCache>
            </c:strRef>
          </c:tx>
          <c:spPr>
            <a:solidFill>
              <a:srgbClr val="C48A2C"/>
            </a:solidFill>
            <a:effectLst/>
          </c:spPr>
          <c:invertIfNegative val="0"/>
          <c:dLbls>
            <c:numFmt formatCode="0.00;-0.0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0 Fibro</c:v>
                  </c:pt>
                  <c:pt idx="1">
                    <c:v>1 Fibro</c:v>
                  </c:pt>
                  <c:pt idx="2">
                    <c:v>2 Endo</c:v>
                  </c:pt>
                  <c:pt idx="3">
                    <c:v>3 Endo</c:v>
                  </c:pt>
                  <c:pt idx="4">
                    <c:v>4 Periv</c:v>
                  </c:pt>
                  <c:pt idx="5">
                    <c:v>5 Schwann</c:v>
                  </c:pt>
                  <c:pt idx="6">
                    <c:v>6 T/NK</c:v>
                  </c:pt>
                  <c:pt idx="7">
                    <c:v>7 Periv</c:v>
                  </c:pt>
                  <c:pt idx="8">
                    <c:v>8 Schwann</c:v>
                  </c:pt>
                  <c:pt idx="9">
                    <c:v>9 Myeloid</c:v>
                  </c:pt>
                  <c:pt idx="10">
                    <c:v>10 Endo</c:v>
                  </c:pt>
                  <c:pt idx="11">
                    <c:v>11 T/NK</c:v>
                  </c:pt>
                  <c:pt idx="12">
                    <c:v>12 B/plasma</c:v>
                  </c:pt>
                  <c:pt idx="13">
                    <c:v>13 Myeloid</c:v>
                  </c:pt>
                  <c:pt idx="14">
                    <c:v>14 Epith</c:v>
                  </c:pt>
                  <c:pt idx="15">
                    <c:v>15 Ery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0.324</c:v>
                </c:pt>
                <c:pt idx="1">
                  <c:v>0.404</c:v>
                </c:pt>
                <c:pt idx="2">
                  <c:v>0</c:v>
                </c:pt>
                <c:pt idx="3">
                  <c:v>0</c:v>
                </c:pt>
                <c:pt idx="4">
                  <c:v>0.28</c:v>
                </c:pt>
                <c:pt idx="5">
                  <c:v>0</c:v>
                </c:pt>
                <c:pt idx="6">
                  <c:v>0</c:v>
                </c:pt>
                <c:pt idx="7">
                  <c:v>0.397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A9B1B8"/>
            </a:solidFill>
            <a:effectLst/>
          </c:spPr>
          <c:invertIfNegative val="0"/>
          <c:dLbls>
            <c:numFmt formatCode="0.00;-0.0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0 Fibro</c:v>
                  </c:pt>
                  <c:pt idx="1">
                    <c:v>1 Fibro</c:v>
                  </c:pt>
                  <c:pt idx="2">
                    <c:v>2 Endo</c:v>
                  </c:pt>
                  <c:pt idx="3">
                    <c:v>3 Endo</c:v>
                  </c:pt>
                  <c:pt idx="4">
                    <c:v>4 Periv</c:v>
                  </c:pt>
                  <c:pt idx="5">
                    <c:v>5 Schwann</c:v>
                  </c:pt>
                  <c:pt idx="6">
                    <c:v>6 T/NK</c:v>
                  </c:pt>
                  <c:pt idx="7">
                    <c:v>7 Periv</c:v>
                  </c:pt>
                  <c:pt idx="8">
                    <c:v>8 Schwann</c:v>
                  </c:pt>
                  <c:pt idx="9">
                    <c:v>9 Myeloid</c:v>
                  </c:pt>
                  <c:pt idx="10">
                    <c:v>10 Endo</c:v>
                  </c:pt>
                  <c:pt idx="11">
                    <c:v>11 T/NK</c:v>
                  </c:pt>
                  <c:pt idx="12">
                    <c:v>12 B/plasma</c:v>
                  </c:pt>
                  <c:pt idx="13">
                    <c:v>13 Myeloid</c:v>
                  </c:pt>
                  <c:pt idx="14">
                    <c:v>14 Epith</c:v>
                  </c:pt>
                  <c:pt idx="15">
                    <c:v>15 Ery</c:v>
                  </c:pt>
                </c:lvl>
              </c:multiLvlStrCache>
            </c:multiLvl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0.353</c:v>
                </c:pt>
                <c:pt idx="3">
                  <c:v>0.311</c:v>
                </c:pt>
                <c:pt idx="4">
                  <c:v>0</c:v>
                </c:pt>
                <c:pt idx="5">
                  <c:v>0.417</c:v>
                </c:pt>
                <c:pt idx="6">
                  <c:v>0.613</c:v>
                </c:pt>
                <c:pt idx="7">
                  <c:v>0</c:v>
                </c:pt>
                <c:pt idx="8">
                  <c:v>0.267</c:v>
                </c:pt>
                <c:pt idx="9">
                  <c:v>0.359</c:v>
                </c:pt>
                <c:pt idx="10">
                  <c:v>0.287</c:v>
                </c:pt>
                <c:pt idx="11">
                  <c:v>0.479</c:v>
                </c:pt>
                <c:pt idx="12">
                  <c:v>0.519</c:v>
                </c:pt>
                <c:pt idx="13">
                  <c:v>0.567</c:v>
                </c:pt>
                <c:pt idx="14">
                  <c:v>0.816</c:v>
                </c:pt>
                <c:pt idx="15">
                  <c:v>0.53</c:v>
                </c:pt>
              </c:numCache>
            </c:numRef>
          </c:val>
        </c:ser>
        <c:dLbls>
          <c:numFmt formatCode="0.00;-0.00;;" sourceLinked="0"/>
          <c:txPr>
            <a:bodyPr/>
            <a:lstStyle/>
            <a:p>
              <a:pPr>
                <a:defRPr b="0" i="0" strike="noStrike" sz="900" u="none">
                  <a:solidFill>
                    <a:srgbClr val="1F2A33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8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Cells</c:v>
                </c:pt>
              </c:strCache>
            </c:strRef>
          </c:tx>
          <c:spPr>
            <a:solidFill>
              <a:srgbClr val="C48A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Erythrocyte</c:v>
                  </c:pt>
                  <c:pt idx="1">
                    <c:v>Epithelial</c:v>
                  </c:pt>
                  <c:pt idx="2">
                    <c:v>B/plasma</c:v>
                  </c:pt>
                  <c:pt idx="3">
                    <c:v>Myeloid</c:v>
                  </c:pt>
                  <c:pt idx="4">
                    <c:v>T/NK</c:v>
                  </c:pt>
                  <c:pt idx="5">
                    <c:v>Schwann/glia</c:v>
                  </c:pt>
                  <c:pt idx="6">
                    <c:v>Perivascular (mes.)</c:v>
                  </c:pt>
                  <c:pt idx="7">
                    <c:v>Endothelial</c:v>
                  </c:pt>
                  <c:pt idx="8">
                    <c:v>Pulp fibroblast (mes.)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66</c:v>
                </c:pt>
                <c:pt idx="1">
                  <c:v>87</c:v>
                </c:pt>
                <c:pt idx="2">
                  <c:v>158</c:v>
                </c:pt>
                <c:pt idx="3">
                  <c:v>832</c:v>
                </c:pt>
                <c:pt idx="4">
                  <c:v>1692</c:v>
                </c:pt>
                <c:pt idx="5">
                  <c:v>2300</c:v>
                </c:pt>
                <c:pt idx="6">
                  <c:v>2877</c:v>
                </c:pt>
                <c:pt idx="7">
                  <c:v>5718</c:v>
                </c:pt>
                <c:pt idx="8">
                  <c:v>9597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0"/>
        </c:scaling>
        <c:delete val="0"/>
        <c:axPos val="b"/>
        <c:majorGridlines>
          <c:spPr>
            <a:ln w="6350" cap="flat">
              <a:solidFill>
                <a:srgbClr val="E3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Candidate DPSC</c:v>
                </c:pt>
              </c:strCache>
            </c:strRef>
          </c:tx>
          <c:spPr>
            <a:solidFill>
              <a:srgbClr val="B03A5B"/>
            </a:solidFill>
            <a:effectLst/>
          </c:spPr>
          <c:invertIfNegative val="0"/>
          <c:dLbls>
            <c:numFmt formatCode="0.00;-0.0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Sub 4</c:v>
                  </c:pt>
                  <c:pt idx="1">
                    <c:v>Sub 2</c:v>
                  </c:pt>
                  <c:pt idx="2">
                    <c:v>Sub 8</c:v>
                  </c:pt>
                  <c:pt idx="3">
                    <c:v>Sub 1</c:v>
                  </c:pt>
                  <c:pt idx="4">
                    <c:v>Sub 5</c:v>
                  </c:pt>
                  <c:pt idx="5">
                    <c:v>Sub 7</c:v>
                  </c:pt>
                  <c:pt idx="6">
                    <c:v>Sub 0</c:v>
                  </c:pt>
                  <c:pt idx="7">
                    <c:v>Sub 6</c:v>
                  </c:pt>
                  <c:pt idx="8">
                    <c:v>Sub 3</c:v>
                  </c:pt>
                  <c:pt idx="9">
                    <c:v>Sub 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0.197</c:v>
                </c:pt>
                <c:pt idx="1">
                  <c:v>0.099</c:v>
                </c:pt>
                <c:pt idx="2">
                  <c:v>0.035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Fibroblast</c:v>
                </c:pt>
              </c:strCache>
            </c:strRef>
          </c:tx>
          <c:spPr>
            <a:solidFill>
              <a:srgbClr val="C48A2C"/>
            </a:solidFill>
            <a:effectLst/>
          </c:spPr>
          <c:invertIfNegative val="0"/>
          <c:dLbls>
            <c:numFmt formatCode="0.00;-0.00;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Sub 4</c:v>
                  </c:pt>
                  <c:pt idx="1">
                    <c:v>Sub 2</c:v>
                  </c:pt>
                  <c:pt idx="2">
                    <c:v>Sub 8</c:v>
                  </c:pt>
                  <c:pt idx="3">
                    <c:v>Sub 1</c:v>
                  </c:pt>
                  <c:pt idx="4">
                    <c:v>Sub 5</c:v>
                  </c:pt>
                  <c:pt idx="5">
                    <c:v>Sub 7</c:v>
                  </c:pt>
                  <c:pt idx="6">
                    <c:v>Sub 0</c:v>
                  </c:pt>
                  <c:pt idx="7">
                    <c:v>Sub 6</c:v>
                  </c:pt>
                  <c:pt idx="8">
                    <c:v>Sub 3</c:v>
                  </c:pt>
                  <c:pt idx="9">
                    <c:v>Sub 9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-0.102</c:v>
                </c:pt>
                <c:pt idx="4">
                  <c:v>-0.109</c:v>
                </c:pt>
                <c:pt idx="5">
                  <c:v>-0.11</c:v>
                </c:pt>
                <c:pt idx="6">
                  <c:v>-0.141</c:v>
                </c:pt>
                <c:pt idx="7">
                  <c:v>-0.174</c:v>
                </c:pt>
                <c:pt idx="8">
                  <c:v>-0.2</c:v>
                </c:pt>
                <c:pt idx="9">
                  <c:v>-0.275</c:v>
                </c:pt>
              </c:numCache>
            </c:numRef>
          </c:val>
        </c:ser>
        <c:dLbls>
          <c:numFmt formatCode="0.00;-0.00;;" sourceLinked="0"/>
          <c:txPr>
            <a:bodyPr/>
            <a:lstStyle/>
            <a:p>
              <a:pPr>
                <a:defRPr b="0" i="0" strike="noStrike" sz="900" u="none">
                  <a:solidFill>
                    <a:srgbClr val="1F2A33"/>
                  </a:solidFill>
                  <a:latin typeface="Calibri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-0.3"/>
        </c:scaling>
        <c:delete val="0"/>
        <c:axPos val="l"/>
        <c:majorGridlines>
          <c:spPr>
            <a:ln w="6350" cap="flat">
              <a:solidFill>
                <a:srgbClr val="E3E6E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WLS+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T/NK</c:v>
                  </c:pt>
                  <c:pt idx="1">
                    <c:v>B/plasma</c:v>
                  </c:pt>
                  <c:pt idx="2">
                    <c:v>Endothelial</c:v>
                  </c:pt>
                  <c:pt idx="3">
                    <c:v>► Candidate DPSC</c:v>
                  </c:pt>
                  <c:pt idx="4">
                    <c:v>Schwann/glia</c:v>
                  </c:pt>
                  <c:pt idx="5">
                    <c:v>Myeloid</c:v>
                  </c:pt>
                  <c:pt idx="6">
                    <c:v>Pulp fibroblast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1.3</c:v>
                </c:pt>
                <c:pt idx="1">
                  <c:v>2.4</c:v>
                </c:pt>
                <c:pt idx="2">
                  <c:v>7.8</c:v>
                </c:pt>
                <c:pt idx="3">
                  <c:v>11.1</c:v>
                </c:pt>
                <c:pt idx="4">
                  <c:v>12.2</c:v>
                </c:pt>
                <c:pt idx="5">
                  <c:v>20</c:v>
                </c:pt>
                <c:pt idx="6">
                  <c:v>20.7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A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b"/>
        <c:majorGridlines>
          <c:spPr>
            <a:ln w="6350" cap="flat">
              <a:solidFill>
                <a:srgbClr val="E3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log2FC</c:v>
                </c:pt>
              </c:strCache>
            </c:strRef>
          </c:tx>
          <c:spPr>
            <a:solidFill>
              <a:srgbClr val="6A1B3A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vs Endothelial</c:v>
                  </c:pt>
                  <c:pt idx="1">
                    <c:v>vs All other cells</c:v>
                  </c:pt>
                  <c:pt idx="2">
                    <c:v>vs Schwann/glia</c:v>
                  </c:pt>
                  <c:pt idx="3">
                    <c:v>vs Pulp fibroblast</c:v>
                  </c:pt>
                  <c:pt idx="4">
                    <c:v>vs Myeloid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1.282</c:v>
                </c:pt>
                <c:pt idx="1">
                  <c:v>-0.139</c:v>
                </c:pt>
                <c:pt idx="2">
                  <c:v>-0.23</c:v>
                </c:pt>
                <c:pt idx="3">
                  <c:v>-0.949</c:v>
                </c:pt>
                <c:pt idx="4">
                  <c:v>-1.342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A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6"/>
          <c:min val="-1.6"/>
        </c:scaling>
        <c:delete val="0"/>
        <c:axPos val="b"/>
        <c:majorGridlines>
          <c:spPr>
            <a:ln w="6350" cap="flat">
              <a:solidFill>
                <a:srgbClr val="E3E6E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Unadjusted</c:v>
                </c:pt>
              </c:strCache>
            </c:strRef>
          </c:tx>
          <c:spPr>
            <a:solidFill>
              <a:srgbClr val="A9B1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Candidate DPSC</c:v>
                  </c:pt>
                  <c:pt idx="1">
                    <c:v>Pulp fibroblast</c:v>
                  </c:pt>
                  <c:pt idx="2">
                    <c:v>Endothelial</c:v>
                  </c:pt>
                  <c:pt idx="3">
                    <c:v>Schwann/glia</c:v>
                  </c:pt>
                  <c:pt idx="4">
                    <c:v>Myeloid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1.38</c:v>
                </c:pt>
                <c:pt idx="1">
                  <c:v>1.23</c:v>
                </c:pt>
                <c:pt idx="2">
                  <c:v>1.67</c:v>
                </c:pt>
                <c:pt idx="3">
                  <c:v>1.95</c:v>
                </c:pt>
                <c:pt idx="4">
                  <c:v>1.81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Depth-adjusted</c:v>
                </c:pt>
              </c:strCache>
            </c:strRef>
          </c:tx>
          <c:spPr>
            <a:solidFill>
              <a:srgbClr val="6A1B3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Candidate DPSC</c:v>
                  </c:pt>
                  <c:pt idx="1">
                    <c:v>Pulp fibroblast</c:v>
                  </c:pt>
                  <c:pt idx="2">
                    <c:v>Endothelial</c:v>
                  </c:pt>
                  <c:pt idx="3">
                    <c:v>Schwann/glia</c:v>
                  </c:pt>
                  <c:pt idx="4">
                    <c:v>Myeloid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1.02</c:v>
                </c:pt>
                <c:pt idx="3">
                  <c:v>1.8</c:v>
                </c:pt>
                <c:pt idx="4">
                  <c:v>0.71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A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"/>
          <c:min val="0"/>
        </c:scaling>
        <c:delete val="0"/>
        <c:axPos val="l"/>
        <c:majorGridlines>
          <c:spPr>
            <a:ln w="6350" cap="flat">
              <a:solidFill>
                <a:srgbClr val="E3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33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F2A33"/>
                </a:solidFill>
                <a:latin typeface="Calibri"/>
              </a:rPr>
              <a:t>% cells expressing each ligand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Candidate DPSC</c:v>
                </c:pt>
              </c:strCache>
            </c:strRef>
          </c:tx>
          <c:spPr>
            <a:solidFill>
              <a:srgbClr val="B03A5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WNT2B</c:v>
                  </c:pt>
                  <c:pt idx="1">
                    <c:v>WNT5A</c:v>
                  </c:pt>
                  <c:pt idx="2">
                    <c:v>WNT5B</c:v>
                  </c:pt>
                  <c:pt idx="3">
                    <c:v>WNT6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</c:v>
                </c:pt>
                <c:pt idx="1">
                  <c:v>1.16</c:v>
                </c:pt>
                <c:pt idx="2">
                  <c:v>0.6</c:v>
                </c:pt>
                <c:pt idx="3">
                  <c:v>3.83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Pulp fibroblast</c:v>
                </c:pt>
              </c:strCache>
            </c:strRef>
          </c:tx>
          <c:spPr>
            <a:solidFill>
              <a:srgbClr val="C48A2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WNT2B</c:v>
                  </c:pt>
                  <c:pt idx="1">
                    <c:v>WNT5A</c:v>
                  </c:pt>
                  <c:pt idx="2">
                    <c:v>WNT5B</c:v>
                  </c:pt>
                  <c:pt idx="3">
                    <c:v>WNT6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1.11</c:v>
                </c:pt>
                <c:pt idx="1">
                  <c:v>9.97</c:v>
                </c:pt>
                <c:pt idx="2">
                  <c:v>3.56</c:v>
                </c:pt>
                <c:pt idx="3">
                  <c:v>0.29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2A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E3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log2FC</c:v>
                </c:pt>
              </c:strCache>
            </c:strRef>
          </c:tx>
          <c:spPr>
            <a:solidFill>
              <a:srgbClr val="B03A5B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D: MCAM⁺ (CD146⁺)</c:v>
                  </c:pt>
                  <c:pt idx="1">
                    <c:v>C: ≥3 stem markers</c:v>
                  </c:pt>
                  <c:pt idx="2">
                    <c:v>B: top 20% stem score</c:v>
                  </c:pt>
                  <c:pt idx="3">
                    <c:v>A: perivascular sub-clusters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-0.473</c:v>
                </c:pt>
                <c:pt idx="1">
                  <c:v>-0.12</c:v>
                </c:pt>
                <c:pt idx="2">
                  <c:v>-0.438</c:v>
                </c:pt>
                <c:pt idx="3">
                  <c:v>-0.947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A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"/>
          <c:min val="-1.2"/>
        </c:scaling>
        <c:delete val="0"/>
        <c:axPos val="b"/>
        <c:majorGridlines>
          <c:spPr>
            <a:ln w="6350" cap="flat">
              <a:solidFill>
                <a:srgbClr val="E3E6E8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WLS+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Pulp3 (446 genes)</c:v>
                  </c:pt>
                  <c:pt idx="1">
                    <c:v>Pulp2 (971)</c:v>
                  </c:pt>
                  <c:pt idx="2">
                    <c:v>Pulp4 (1,196)</c:v>
                  </c:pt>
                  <c:pt idx="3">
                    <c:v>Pulp5 (1,231)</c:v>
                  </c:pt>
                  <c:pt idx="4">
                    <c:v>Pulp1 (1,293)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1.3</c:v>
                </c:pt>
                <c:pt idx="1">
                  <c:v>5.4</c:v>
                </c:pt>
                <c:pt idx="2">
                  <c:v>13.1</c:v>
                </c:pt>
                <c:pt idx="3">
                  <c:v>16.8</c:v>
                </c:pt>
                <c:pt idx="4">
                  <c:v>11.1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A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6350" cap="flat">
              <a:solidFill>
                <a:srgbClr val="E3E6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60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Every slide ends with a source line naming the dataset, the script that produced the result and the results file it came from, so any number can be traced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result. H1 (WLS expressed) is supported; H2 (WLS enriched in DPSCs) is not. The comparison with fibroblasts is a donor-paired pseudobulk test, so the five donors are the replicates.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pulp samples from GSE164157 in 10x Cell Ranger format. Singlet counts are after QC and doublet removal. Clinical details of the teeth are not in the processed files; the original GSE164157 publication should be cited.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order is shown left to right. Each script reads the previous stage output from data/processed and writes figures, CSV tables and sessionInfo.txt to its results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856 cells (3.3%) failed QC; 1,703 doublets (6.8%) were removed, run per donor because doublets form only within one 10x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Harmony the mesenchymal clusters draw cells evenly from all donors, so the DPSC comparison is not driven by one donor. Figure: results/06a_batch/07_UMAP_after_harmony.png.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Orange bars are mesenchymal lineages. UMAP figure: results/06_annotation/03_UMAP_cell_types.png. Marker dot plot: results/06_annotation/01_DotPlot_lineage_markers.png.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Candidate DPSCs = mesenchymal sub-clusters with a positive mean stem score. Figure: results/06_annotation/04_mesenchyme_DPSC_score.png.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with at least 20 cells per donor. Figures: results/07_WLS/01_UMAP_WLS_and_groups.png and 05_WLS_pct_per_donor.png.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Positive = higher in candidate DPSCs. Lower than fibroblasts and myeloid cells, higher than endothelial, equal to the pulp average. The mixed-model p-value is overly small because it treats cells as observations; use the pseudobulk FDRs for inference.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adjusting for genes detected per cell, the association is gone everywhere except Schwann/glia (OR 1.80, 95% CI 1.18–2.73, p = 0.006). Fibroblasts express WNT5A/WNT5B; candidate DPSCs mainly WNT6.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 C selects the best-sequenced cells, which favours WLS detection, so it is least likely to show a deficit. Figure: results/07b_sensitivity/01_sensitivity_log2FC.png.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 UMIs per candidate DPSC: Pulp3 656, Pulp2 1,723, Pulp4 2,338, Pulp5 2,485, Pulp1 3,228.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WLS is present in DPSCs but they are not a specialised WLS-high population in uninjured adult pulp.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the four questions; the answers decide the next stage.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A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822960"/>
            <a:ext cx="3291840" cy="3291840"/>
          </a:xfrm>
          <a:prstGeom prst="ellipse">
            <a:avLst/>
          </a:prstGeom>
          <a:solidFill>
            <a:srgbClr val="B03A5B">
              <a:alpha val="45000"/>
            </a:srgbClr>
          </a:solidFill>
          <a:ln w="12700">
            <a:solidFill>
              <a:srgbClr val="B03A5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011680"/>
            <a:ext cx="1737360" cy="1737360"/>
          </a:xfrm>
          <a:prstGeom prst="ellipse">
            <a:avLst/>
          </a:prstGeom>
          <a:solidFill>
            <a:srgbClr val="F3DDE6">
              <a:alpha val="30000"/>
            </a:srgbClr>
          </a:solidFill>
          <a:ln w="12700">
            <a:solidFill>
              <a:srgbClr val="F3DDE6">
                <a:alpha val="3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9144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WLS (GPR177/Wntless) in Human Dental Pulp Stem Cells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688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3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donor-aware single-cell analysis of GSE164157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546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Tariqul Islam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of Professor Wei Hsu, The ADA Forsyth Institute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4645152"/>
            <a:ext cx="8229600" cy="310896"/>
          </a:xfrm>
          <a:prstGeom prst="roundRect">
            <a:avLst>
              <a:gd name="adj" fmla="val 23529"/>
            </a:avLst>
          </a:prstGeom>
          <a:solidFill>
            <a:srgbClr val="4A1328"/>
          </a:solidFill>
          <a:ln w="12700">
            <a:solidFill>
              <a:srgbClr val="4A13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3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GEO GSE164157 (5 donors, 10x Genomics)  |  Code: github.com/mtariqi/dpsc-wls-human-scRNAseq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answer up front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WLS expressed, and enriched, in human DPSCs?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WLS is expressed in candidate DPSCs in every donor, but it is not enriched in them.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240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11.1%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WLS⁺ candidate DPSCs per donor (all 5 donors)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20574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2240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0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1.9×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than pulp fibroblasts (pseudobulk FDR 0.0014)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057400"/>
            <a:ext cx="2606040" cy="2286000"/>
          </a:xfrm>
          <a:prstGeom prst="roundRect">
            <a:avLst>
              <a:gd name="adj" fmla="val 4800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2240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4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of 4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200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DPSC definitions in which WLS was higher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645152"/>
            <a:ext cx="8229600" cy="310896"/>
          </a:xfrm>
          <a:prstGeom prst="roundRect">
            <a:avLst>
              <a:gd name="adj" fmla="val 23529"/>
            </a:avLst>
          </a:prstGeom>
          <a:solidFill>
            <a:srgbClr val="F6EEF1"/>
          </a:solidFill>
          <a:ln w="12700">
            <a:solidFill>
              <a:srgbClr val="F6EE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results/07_WLS/WLS_summary_by_group.csv  |  results/07_WLS/WLS_pseudobulk_edgeR_tests.csv  |  results/07b_sensitivity/WLS_sensitivity_by_definition.csv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and study design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analysis of a public human dental pulp atlas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3931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 sample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GSM4998457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Pulp1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GSM4998458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Pulp2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GSM4998459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Pulp3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GSM4998460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Pulp4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GSM4998461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Pulp5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23,327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371600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7548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39496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Tissue, not culture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6459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Freshly dissociated pulp cells; DPSCs defined by marker combinations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2395728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5488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394960" y="2350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as replicates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394960" y="26700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inference by donor-paired pseudobulk; cell-level tests exploratory only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3419856"/>
            <a:ext cx="457200" cy="45720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5488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394960" y="33741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built in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394960" y="369417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DPSC definitions and depth-adjusted models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645152"/>
            <a:ext cx="8229600" cy="310896"/>
          </a:xfrm>
          <a:prstGeom prst="roundRect">
            <a:avLst>
              <a:gd name="adj" fmla="val 23529"/>
            </a:avLst>
          </a:prstGeom>
          <a:solidFill>
            <a:srgbClr val="F6EEF1"/>
          </a:solidFill>
          <a:ln w="12700">
            <a:solidFill>
              <a:srgbClr val="F6EEF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66928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GEO GSE164157  |  Scripts: scripts/02_download_GEO.R (GEOquery), scripts/04_QC.R  |  Table: results/06a_batch/doublets_by_sample.csv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one script; outputs go to a numbered results folder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234440" cy="1645920"/>
          </a:xfrm>
          <a:prstGeom prst="roundRect">
            <a:avLst>
              <a:gd name="adj" fmla="val 7407"/>
            </a:avLst>
          </a:prstGeom>
          <a:solidFill>
            <a:srgbClr val="6A1B3A"/>
          </a:solidFill>
          <a:ln w="12700">
            <a:solidFill>
              <a:srgbClr val="6A1B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30352" y="1554480"/>
            <a:ext cx="1088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4688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04_QC.R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09928" y="2148840"/>
            <a:ext cx="118872" cy="182880"/>
          </a:xfrm>
          <a:prstGeom prst="rtTriangle">
            <a:avLst/>
          </a:prstGeom>
          <a:solidFill>
            <a:srgbClr val="A9B1B8"/>
          </a:solidFill>
          <a:ln w="12700">
            <a:solidFill>
              <a:srgbClr val="A9B1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47088" y="1417320"/>
            <a:ext cx="1234440" cy="1645920"/>
          </a:xfrm>
          <a:prstGeom prst="roundRect">
            <a:avLst>
              <a:gd name="adj" fmla="val 7407"/>
            </a:avLst>
          </a:prstGeom>
          <a:solidFill>
            <a:srgbClr val="6A1B3A"/>
          </a:solidFill>
          <a:ln w="12700">
            <a:solidFill>
              <a:srgbClr val="6A1B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20240" y="1554480"/>
            <a:ext cx="1088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892808" y="24688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05_clustering.R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099816" y="2148840"/>
            <a:ext cx="118872" cy="182880"/>
          </a:xfrm>
          <a:prstGeom prst="rtTriangle">
            <a:avLst/>
          </a:prstGeom>
          <a:solidFill>
            <a:srgbClr val="A9B1B8"/>
          </a:solidFill>
          <a:ln w="12700">
            <a:solidFill>
              <a:srgbClr val="A9B1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36976" y="1417320"/>
            <a:ext cx="1234440" cy="1645920"/>
          </a:xfrm>
          <a:prstGeom prst="roundRect">
            <a:avLst>
              <a:gd name="adj" fmla="val 7407"/>
            </a:avLst>
          </a:prstGeom>
          <a:solidFill>
            <a:srgbClr val="6A1B3A"/>
          </a:solidFill>
          <a:ln w="12700">
            <a:solidFill>
              <a:srgbClr val="6A1B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10128" y="1554480"/>
            <a:ext cx="1088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Doublets + Harmony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282696" y="24688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06a_batch_doublets.R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89704" y="2148840"/>
            <a:ext cx="118872" cy="182880"/>
          </a:xfrm>
          <a:prstGeom prst="rtTriangle">
            <a:avLst/>
          </a:prstGeom>
          <a:solidFill>
            <a:srgbClr val="A9B1B8"/>
          </a:solidFill>
          <a:ln w="12700">
            <a:solidFill>
              <a:srgbClr val="A9B1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417320"/>
            <a:ext cx="1234440" cy="1645920"/>
          </a:xfrm>
          <a:prstGeom prst="roundRect">
            <a:avLst>
              <a:gd name="adj" fmla="val 7407"/>
            </a:avLst>
          </a:prstGeom>
          <a:solidFill>
            <a:srgbClr val="6A1B3A"/>
          </a:solidFill>
          <a:ln w="12700">
            <a:solidFill>
              <a:srgbClr val="6A1B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0016" y="1554480"/>
            <a:ext cx="1088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+ DPSCs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672584" y="24688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06_annotation.R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79592" y="2148840"/>
            <a:ext cx="118872" cy="182880"/>
          </a:xfrm>
          <a:prstGeom prst="rtTriangle">
            <a:avLst/>
          </a:prstGeom>
          <a:solidFill>
            <a:srgbClr val="A9B1B8"/>
          </a:solidFill>
          <a:ln w="12700">
            <a:solidFill>
              <a:srgbClr val="A9B1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16752" y="1417320"/>
            <a:ext cx="1234440" cy="1645920"/>
          </a:xfrm>
          <a:prstGeom prst="roundRect">
            <a:avLst>
              <a:gd name="adj" fmla="val 7407"/>
            </a:avLst>
          </a:prstGeom>
          <a:solidFill>
            <a:srgbClr val="6A1B3A"/>
          </a:solidFill>
          <a:ln w="12700">
            <a:solidFill>
              <a:srgbClr val="6A1B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89904" y="1554480"/>
            <a:ext cx="1088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WLS by donor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062472" y="24688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07_WLS_expression.R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269480" y="2148840"/>
            <a:ext cx="118872" cy="182880"/>
          </a:xfrm>
          <a:prstGeom prst="rtTriangle">
            <a:avLst/>
          </a:prstGeom>
          <a:solidFill>
            <a:srgbClr val="A9B1B8"/>
          </a:solidFill>
          <a:ln w="12700">
            <a:solidFill>
              <a:srgbClr val="A9B1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1417320"/>
            <a:ext cx="1234440" cy="1645920"/>
          </a:xfrm>
          <a:prstGeom prst="roundRect">
            <a:avLst>
              <a:gd name="adj" fmla="val 7407"/>
            </a:avLst>
          </a:prstGeom>
          <a:solidFill>
            <a:srgbClr val="6A1B3A"/>
          </a:solidFill>
          <a:ln w="12700">
            <a:solidFill>
              <a:srgbClr val="6A1B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79792" y="1554480"/>
            <a:ext cx="1088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52360" y="246888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3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07b_WLS_sensitivity.R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4.6, Seurat v5, harmony, scDblFinder, edgeR, lme4; versions locked in renv.lock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08_DEG.R (WLS⁺ vs WLS⁻), 09_GSEA.R, ligand–receptor analysis, validation in a second dataset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645152"/>
            <a:ext cx="8229600" cy="310896"/>
          </a:xfrm>
          <a:prstGeom prst="roundRect">
            <a:avLst>
              <a:gd name="adj" fmla="val 23529"/>
            </a:avLst>
          </a:prstGeom>
          <a:solidFill>
            <a:srgbClr val="F6EEF1"/>
          </a:solidFill>
          <a:ln w="12700">
            <a:solidFill>
              <a:srgbClr val="F6EEF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github.com/mtariqi/dpsc-wls-human-scRNAseq/scripts  |  Environment: renv.lock  |  Session info: results/*/sessionInfo.txt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control and doublet removal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doublet rates across donors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25,886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92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loaded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77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25,030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944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QC filters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23,327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95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singlets analysed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108960" y="1234440"/>
          <a:ext cx="55778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645152"/>
            <a:ext cx="8229600" cy="310896"/>
          </a:xfrm>
          <a:prstGeom prst="roundRect">
            <a:avLst>
              <a:gd name="adj" fmla="val 23529"/>
            </a:avLst>
          </a:prstGeom>
          <a:solidFill>
            <a:srgbClr val="F6EEF1"/>
          </a:solidFill>
          <a:ln w="12700">
            <a:solidFill>
              <a:srgbClr val="F6EEF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Scripts: scripts/04_QC.R (nFeature &gt; 200, nCount &gt; 500, mt &lt; 20%), scripts/06a_batch_doublets.R  |  Table: results/06a_batch/doublets_by_sample.csv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Harmony integration mixes the donors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each cluster coming from its largest donor (0.2 = perfect mixing)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6692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17920" y="1280160"/>
            <a:ext cx="2560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Mesenchymal, endothelial and glial clusters: 27–48% from their largest donor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T/NK cluster 6 comes only from Pulp4 and Pulp5, likely an immune infiltrate; retained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Epithelial cluster 14 is 82% Pulp3, likely contamination; excluded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4645152"/>
            <a:ext cx="8229600" cy="310896"/>
          </a:xfrm>
          <a:prstGeom prst="roundRect">
            <a:avLst>
              <a:gd name="adj" fmla="val 23529"/>
            </a:avLst>
          </a:prstGeom>
          <a:solidFill>
            <a:srgbClr val="F6EEF1"/>
          </a:solidFill>
          <a:ln w="12700">
            <a:solidFill>
              <a:srgbClr val="F6EE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scripts/06a_batch_doublets.R (Harmony, 20 PCs, res. 0.5)  |  Tables: results/06a_batch/cluster_by_sample_before.csv, cluster_by_sample_after.csv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cell types in human dental pulp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clusters had a clear marker match and were confirmed manually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1206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80160"/>
            <a:ext cx="2926080" cy="3154680"/>
          </a:xfrm>
          <a:prstGeom prst="roundRect">
            <a:avLst>
              <a:gd name="adj" fmla="val 3125"/>
            </a:avLst>
          </a:prstGeom>
          <a:solidFill>
            <a:srgbClr val="F6EEF1"/>
          </a:solidFill>
          <a:ln w="12700">
            <a:solidFill>
              <a:srgbClr val="F6EEF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1417320"/>
            <a:ext cx="2606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C4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3400" dirty="0"/>
          </a:p>
          <a:p>
            <a:pPr indent="0" marL="0">
              <a:buNone/>
            </a:pPr>
            <a:r>
              <a:rPr lang="en-US" sz="13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cells are pulp fibroblasts</a:t>
            </a:r>
            <a:endParaRPr lang="en-US" sz="34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odontoblast cluster</a:t>
            </a:r>
            <a:endParaRPr lang="en-US" sz="3400" dirty="0"/>
          </a:p>
          <a:p>
            <a:pPr indent="0" marL="0">
              <a:buNone/>
            </a:pPr>
            <a:r>
              <a:rPr lang="en-US" sz="1150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lost during pulp extraction; lymphatic and mast cells too rare to cluster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57200" y="4645152"/>
            <a:ext cx="8229600" cy="310896"/>
          </a:xfrm>
          <a:prstGeom prst="roundRect">
            <a:avLst>
              <a:gd name="adj" fmla="val 23529"/>
            </a:avLst>
          </a:prstGeom>
          <a:solidFill>
            <a:srgbClr val="F6EEF1"/>
          </a:solidFill>
          <a:ln w="12700">
            <a:solidFill>
              <a:srgbClr val="F6EE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scripts/06_annotation.R (14 marker panels, module scores)  |  Tables: data/annotation/cluster_labels.csv, results/06_annotation/cell_type_by_sample.csv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DPSCs are perivascular cells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Stem/progenitor score of each mesenchymal sub-cluster, scored separately from perivascular genes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9377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0" y="1280160"/>
            <a:ext cx="3291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score: THY1, NT5E, ENG, NGFR, FRZB, LEPR, PRRX1, CXCL12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perivascular sub-clusters score above background: 2,847 cells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perivascular scores (0.62–1.13) far exceed stem scores (0.04–0.20)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the CD146⁺ perivascular niche (Shi &amp; Gronthos 2003)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4645152"/>
            <a:ext cx="8229600" cy="310896"/>
          </a:xfrm>
          <a:prstGeom prst="roundRect">
            <a:avLst>
              <a:gd name="adj" fmla="val 23529"/>
            </a:avLst>
          </a:prstGeom>
          <a:solidFill>
            <a:srgbClr val="F6EEF1"/>
          </a:solidFill>
          <a:ln w="12700">
            <a:solidFill>
              <a:srgbClr val="F6EE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scripts/06_annotation.R (mesenchyme sub-clustering, res. 0.4)  |  Table: results/06_annotation/mesenchymal_subclusters_DPSC_score.csv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WLS is detected in candidate DPSCs in every donor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% of WLS⁺ cells across donors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303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280160"/>
            <a:ext cx="2743200" cy="3154680"/>
          </a:xfrm>
          <a:prstGeom prst="roundRect">
            <a:avLst>
              <a:gd name="adj" fmla="val 3333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126480" y="1417320"/>
            <a:ext cx="2423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across donors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DPSC: 1.3–16.8%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fibroblast: 6.3–24.0%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understates expression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data capture a fraction of transcripts, so compare groups, not absolute %.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645152"/>
            <a:ext cx="8229600" cy="310896"/>
          </a:xfrm>
          <a:prstGeom prst="roundRect">
            <a:avLst>
              <a:gd name="adj" fmla="val 23529"/>
            </a:avLst>
          </a:prstGeom>
          <a:solidFill>
            <a:srgbClr val="F6EEF1"/>
          </a:solidFill>
          <a:ln w="12700">
            <a:solidFill>
              <a:srgbClr val="F6EE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66928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scripts/07_WLS_expression.R  |  Tables: results/07_WLS/WLS_summary_by_group.csv, results/07_WLS/WLS_per_donor_per_group.csv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Donor-level tests: WLS is not enriched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WLS log2 fold change, candidate DPSC vs each group (pseudobulk edgeR, 5 donors)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12064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280160"/>
          <a:ext cx="29260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058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Pulp fibroblast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Myeloid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Endothelial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Schwann/glia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All other 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760720" y="32461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model (mesenchyme): </a:t>
            </a:r>
            <a:pPr indent="0" marL="0">
              <a:buNone/>
            </a:pPr>
            <a:r>
              <a:rPr lang="en-US" sz="11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0.43 (95% CI 0.37–0.50)</a:t>
            </a:r>
            <a:endParaRPr lang="en-US" sz="1150" dirty="0"/>
          </a:p>
        </p:txBody>
      </p:sp>
      <p:sp>
        <p:nvSpPr>
          <p:cNvPr id="7" name="Shape 3"/>
          <p:cNvSpPr/>
          <p:nvPr/>
        </p:nvSpPr>
        <p:spPr>
          <a:xfrm>
            <a:off x="457200" y="4645152"/>
            <a:ext cx="8229600" cy="310896"/>
          </a:xfrm>
          <a:prstGeom prst="roundRect">
            <a:avLst>
              <a:gd name="adj" fmla="val 23529"/>
            </a:avLst>
          </a:prstGeom>
          <a:solidFill>
            <a:srgbClr val="F6EEF1"/>
          </a:solidFill>
          <a:ln w="12700">
            <a:solidFill>
              <a:srgbClr val="F6EEF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66928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scripts/07_WLS_expression.R (edgeR QL, ~ donor + group; lme4)  |  Tables: results/07_WLS/WLS_pseudobulk_edgeR_tests.csv, WLS_mixed_model.csv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WLS–WNT co-expression was a depth artefact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ratio for WLS in WNT⁺ vs WNT⁻ cells, before and after adjusting for genes per cell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8463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394960" y="1188720"/>
          <a:ext cx="338328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645152"/>
            <a:ext cx="8229600" cy="310896"/>
          </a:xfrm>
          <a:prstGeom prst="roundRect">
            <a:avLst>
              <a:gd name="adj" fmla="val 23529"/>
            </a:avLst>
          </a:prstGeom>
          <a:solidFill>
            <a:srgbClr val="F6EEF1"/>
          </a:solidFill>
          <a:ln w="12700">
            <a:solidFill>
              <a:srgbClr val="F6EEF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66928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Scripts: 07_WLS_expression.R, 07b_WLS_sensitivity.R  |  Tables: results/07_WLS/WLS_WNT_coexpression.csv, results/07b_sensitivity/WLS_WNT_coexpression_depth_adjusted.csv, WNT_ligand_pct_by_group.csv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 to the DPSC definition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WLS log2FC, candidate DPSCs vs other mesenchymal cells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30352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97880" y="1280160"/>
          <a:ext cx="278892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82296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2,847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2.3e-4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7.9e-4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897880" y="297180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overlap only 21–79%, yet WLS is never higher in candidate DPSCs.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4645152"/>
            <a:ext cx="8229600" cy="310896"/>
          </a:xfrm>
          <a:prstGeom prst="roundRect">
            <a:avLst>
              <a:gd name="adj" fmla="val 23529"/>
            </a:avLst>
          </a:prstGeom>
          <a:solidFill>
            <a:srgbClr val="F6EEF1"/>
          </a:solidFill>
          <a:ln w="12700">
            <a:solidFill>
              <a:srgbClr val="F6EEF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66928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scripts/07b_WLS_sensitivity.R  |  Tables: results/07b_sensitivity/WLS_sensitivity_by_definition.csv, definition_overlap.csv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 differences track sequencing depth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WLS⁺ candidate DPSCs, donors ordered by median genes per cell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4864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035040" y="128016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Pulp3 has ~⅓ of the genes per cell of the best donors, hence 1.3% WLS⁺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Pulp4/5 have high mitochondrial reads but the highest WLS detection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Pseudobulk tests compare within donors, so fold changes are unaffected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compare % WLS⁺ between donors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4645152"/>
            <a:ext cx="8229600" cy="310896"/>
          </a:xfrm>
          <a:prstGeom prst="roundRect">
            <a:avLst>
              <a:gd name="adj" fmla="val 23529"/>
            </a:avLst>
          </a:prstGeom>
          <a:solidFill>
            <a:srgbClr val="F6EEF1"/>
          </a:solidFill>
          <a:ln w="12700">
            <a:solidFill>
              <a:srgbClr val="F6EEF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scripts/07b_WLS_sensitivity.R  |  Table: results/07b_sensitivity/candidate_DPSC_by_donor_QC.csv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Interpretation and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F6EEF1"/>
          </a:solidFill>
          <a:ln w="12700">
            <a:solidFill>
              <a:srgbClr val="F6EEF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supported: WLS is expressed in candidate DPSCs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not supported: DPSCs are at the pulp average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Fibroblasts are the main WLS⁺ mesenchymal cells, with WNT5A/WNT5B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of WLS–WNT co-expression in DPSCs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3977640" cy="3383280"/>
          </a:xfrm>
          <a:prstGeom prst="roundRect">
            <a:avLst>
              <a:gd name="adj" fmla="val 2703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916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 (GSE164157); needs validation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DPSCs defined computationally, not functionally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tissue: cultured DPSCs may differ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 only; no WLS protein or secretion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clinical details unknown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4645152"/>
            <a:ext cx="8229600" cy="310896"/>
          </a:xfrm>
          <a:prstGeom prst="roundRect">
            <a:avLst>
              <a:gd name="adj" fmla="val 23529"/>
            </a:avLst>
          </a:prstGeom>
          <a:solidFill>
            <a:srgbClr val="F6EEF1"/>
          </a:solidFill>
          <a:ln w="12700">
            <a:solidFill>
              <a:srgbClr val="F6EE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3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docs/WLS_DPSC_Progress_Report_2.docx, docs/WLS_DPSC_Graduate_Report.docx  |  All tables: results/07_WLS/, results/07b_sensitivity/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A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questions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08_DEG.R: WLS⁺ vs WLS⁻ cells in DPSCs and fibroblasts (pseudobulk, GSEA)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Ligand–receptor mapping of Wnt senders and receivers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GSE202476 / Pagella 2021 atlas; cultured DPSCs (Lee 2022)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Bench: WLS immunostaining with MCAM/THY1 on pulp sections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54880" y="10515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4A1328"/>
          </a:solidFill>
          <a:ln w="12700">
            <a:solidFill>
              <a:srgbClr val="4A13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DD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Professor Hsu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645920"/>
            <a:ext cx="3611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DPSC definition matters most to the lab?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DPSCs, or cultured DPSCs?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follow up fibroblasts as the main WLS source?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public release (Zenodo DOI) and authorship?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4645152"/>
            <a:ext cx="8229600" cy="310896"/>
          </a:xfrm>
          <a:prstGeom prst="roundRect">
            <a:avLst>
              <a:gd name="adj" fmla="val 23529"/>
            </a:avLst>
          </a:prstGeom>
          <a:solidFill>
            <a:srgbClr val="4A1328"/>
          </a:solidFill>
          <a:ln w="12700">
            <a:solidFill>
              <a:srgbClr val="4A13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46451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3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github.com/mtariqi/dpsc-wls-human-scRNAseq  |  Planned scripts: scripts/08_DEG.R, scripts/09_GSEA.R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WLS in candidate human DPSCs</dc:title>
  <dc:subject>PptxGenJS Presentation</dc:subject>
  <dc:creator>Md Tariqul Islam</dc:creator>
  <cp:lastModifiedBy>Md Tariqul Islam</cp:lastModifiedBy>
  <cp:revision>1</cp:revision>
  <dcterms:created xsi:type="dcterms:W3CDTF">2026-10-02T15:53:12Z</dcterms:created>
  <dcterms:modified xsi:type="dcterms:W3CDTF">2026-10-02T15:53:12Z</dcterms:modified>
</cp:coreProperties>
</file>